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1178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29922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98466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1382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4372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73988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4099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8262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28815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2821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00435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088A-102B-4D4D-A146-E78E4FD60F4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7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E-Commerce Dynamic Pricing and Elasticity Analytics</a:t>
            </a:r>
            <a:br>
              <a:rPr lang="en-US" sz="4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Presented by: Shailaja Tallapally</a:t>
            </a:r>
          </a:p>
          <a:p>
            <a:r>
              <a:rPr lang="en-US" b="1" dirty="0" smtClean="0"/>
              <a:t>Internship Project: Data Analytics/AI</a:t>
            </a:r>
          </a:p>
          <a:p>
            <a:r>
              <a:rPr lang="en-US" b="1" dirty="0" smtClean="0"/>
              <a:t>Tools Used: Python, SQL, Power BI, Excel</a:t>
            </a:r>
          </a:p>
          <a:p>
            <a:r>
              <a:rPr lang="en-US" b="1" dirty="0" smtClean="0"/>
              <a:t>Date:07 Aug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0879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Project Overview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946" y="1364105"/>
            <a:ext cx="10884108" cy="5621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Analyze product pricing and discount trends in an e-commerce dataset.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Study the impact of discounts, sale events, and stock status on pricing.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Build an interactive Power BI dashboard for data visualization.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Generate insights to support pricing and business decisions.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Python – Data cleaning and exploratory data analysis (EDA)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SQL – Data querying and analysis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Power BI – Dashboard creation and visualization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Excel – Data preparation and validation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Outcome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Understand pricing patterns across product categories.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Identify the effect of discounts and sale events.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Provide interactive dashboards for decision-making.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Recommend strategies for better pricing and inventory management.</a:t>
            </a:r>
            <a:endParaRPr lang="en-IN" sz="1800" b="1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63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Problem Statement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990" y="1690688"/>
            <a:ext cx="10515600" cy="4665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Challenges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Frequent changes in product prices make pricing decisions difficult.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Discounts and promotional events influence customer purchasing behavior.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Product categories respond differently to pricing strategies.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Businesses need data-driven insights to optimize pricing and maximize revenue.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Goal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This project analyzes pricing trends, discounts, sale events, stock status, and customer ratings using Python, SQL, and Power BI to support effective pricing decisions through interactive dashboards.</a:t>
            </a:r>
          </a:p>
          <a:p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smtClean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Product data</a:t>
            </a:r>
            <a:r>
              <a:rPr lang="en-US" sz="2000" b="1" dirty="0" smtClean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Data Analysis Price Insights Dashboard Business Decisions</a:t>
            </a:r>
            <a:endParaRPr lang="en-IN" sz="2000" b="1" dirty="0">
              <a:solidFill>
                <a:srgbClr val="7030A0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1190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Dataset Description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007"/>
            <a:ext cx="10515600" cy="5343993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Dataset Name: Apple Products Pricing (2020–2026)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Total Records: ~80,000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Total Columns: 14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File Format: CSV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Date &amp; Platform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Product Category &amp; Model Name &amp; Condition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Launch Price (USD/INR)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Current Price (USD/INR)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Discount Percentage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Sale Event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Stock Status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Customer Rating &amp; Reviews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Analyze product pricing, discounts, stock status, and customer ratings to generate business insights and support dynamic pricing decisions.</a:t>
            </a:r>
          </a:p>
          <a:p>
            <a:endParaRPr lang="en-US" sz="1900" b="1" dirty="0" smtClean="0">
              <a:latin typeface="Bell MT" panose="02020503060305020303" pitchFamily="18" charset="0"/>
              <a:cs typeface="Arial" panose="020B0604020202020204" pitchFamily="34" charset="0"/>
            </a:endParaRPr>
          </a:p>
          <a:p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184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Data Cleaning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8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Steps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Removed duplicate records.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Checked and handled missing values.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Converted the Date column to the correct data type.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Verified and corrected numeric data types for pricing columns.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Standardized column names and formatting.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Identified outliers using statistical methods.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Prepared a clean dataset for analysis and dashboard development</a:t>
            </a:r>
            <a:r>
              <a:rPr lang="en-US" sz="1800" dirty="0" smtClean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Improved data quality and consistency.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Reduced errors before analysis.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Created a reliable dataset for SQL queries and Power BI visualizations.</a:t>
            </a:r>
            <a:endParaRPr lang="en-IN" sz="18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581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91" y="3602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Exploratory Data Analysis(EDA)</a:t>
            </a:r>
            <a:endParaRPr lang="en-IN" sz="36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 t="25636" r="43823" b="21884"/>
          <a:stretch/>
        </p:blipFill>
        <p:spPr>
          <a:xfrm>
            <a:off x="193964" y="1219201"/>
            <a:ext cx="5084618" cy="28956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2" t="33045" r="45351" b="15017"/>
          <a:stretch/>
        </p:blipFill>
        <p:spPr>
          <a:xfrm>
            <a:off x="5264728" y="1343891"/>
            <a:ext cx="5638799" cy="2770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0" t="23244" r="33733" b="12567"/>
          <a:stretch/>
        </p:blipFill>
        <p:spPr>
          <a:xfrm>
            <a:off x="193963" y="4003964"/>
            <a:ext cx="4104409" cy="32696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5" t="28389" r="42975" b="5218"/>
          <a:stretch/>
        </p:blipFill>
        <p:spPr>
          <a:xfrm>
            <a:off x="4000499" y="4003963"/>
            <a:ext cx="4724401" cy="37545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8" t="25450" r="44077" b="5389"/>
          <a:stretch/>
        </p:blipFill>
        <p:spPr>
          <a:xfrm>
            <a:off x="8451274" y="4003962"/>
            <a:ext cx="3075709" cy="270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3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SQL Queries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480"/>
            <a:ext cx="10515600" cy="4616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Techniques Used</a:t>
            </a:r>
          </a:p>
          <a:p>
            <a:r>
              <a:rPr lang="en-US" sz="1800" dirty="0">
                <a:latin typeface="Bell MT" panose="02020503060305020303" pitchFamily="18" charset="0"/>
              </a:rPr>
              <a:t>Data Import &amp; Table Creation</a:t>
            </a:r>
          </a:p>
          <a:p>
            <a:r>
              <a:rPr lang="en-US" sz="1800" dirty="0">
                <a:latin typeface="Bell MT" panose="02020503060305020303" pitchFamily="18" charset="0"/>
              </a:rPr>
              <a:t>Aggregate Functions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GROUP BY &amp; ORDER BY</a:t>
            </a:r>
          </a:p>
          <a:p>
            <a:r>
              <a:rPr lang="en-US" sz="1800" dirty="0">
                <a:latin typeface="Bell MT" panose="02020503060305020303" pitchFamily="18" charset="0"/>
              </a:rPr>
              <a:t>Joins &amp; Views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Ranking &amp; Window Functions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Running Total </a:t>
            </a:r>
            <a:r>
              <a:rPr lang="en-US" sz="1800" dirty="0" smtClean="0">
                <a:latin typeface="Bell MT" panose="02020503060305020303" pitchFamily="18" charset="0"/>
              </a:rPr>
              <a:t>Analysis</a:t>
            </a:r>
          </a:p>
          <a:p>
            <a:pPr marL="0" indent="0">
              <a:buNone/>
            </a:pPr>
            <a:r>
              <a:rPr lang="en-IN" sz="1800" b="1" dirty="0">
                <a:latin typeface="Bell MT" panose="02020503060305020303" pitchFamily="18" charset="0"/>
              </a:rPr>
              <a:t>Functions Used COUNT() | SUM() | AVG() | MIN() | MAX()</a:t>
            </a:r>
          </a:p>
          <a:p>
            <a:pPr marL="0" indent="0">
              <a:buNone/>
            </a:pPr>
            <a:r>
              <a:rPr lang="en-IN" sz="1800" b="1" dirty="0">
                <a:latin typeface="Bell MT" panose="02020503060305020303" pitchFamily="18" charset="0"/>
              </a:rPr>
              <a:t>ROW_NUMBER() | RANK() | DENSE_RANK() | LAG() | LEAD</a:t>
            </a:r>
            <a:r>
              <a:rPr lang="en-IN" sz="1800" b="1" dirty="0" smtClean="0">
                <a:latin typeface="Bell MT" panose="02020503060305020303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Outcome</a:t>
            </a:r>
          </a:p>
          <a:p>
            <a:pPr marL="0" indent="0">
              <a:buNone/>
            </a:pPr>
            <a:r>
              <a:rPr lang="en-US" sz="1800" b="1" dirty="0">
                <a:latin typeface="Bell MT" panose="02020503060305020303" pitchFamily="18" charset="0"/>
              </a:rPr>
              <a:t>SQL analysis transformed raw pricing data into structured insights for further EDA and Power BI dashboard development.</a:t>
            </a:r>
            <a:endParaRPr lang="en-IN" sz="18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629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7936"/>
            <a:ext cx="10515600" cy="129275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Power BI Dashboard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5" t="19933" r="19031" b="8380"/>
          <a:stretch/>
        </p:blipFill>
        <p:spPr>
          <a:xfrm>
            <a:off x="0" y="1288473"/>
            <a:ext cx="4378036" cy="272934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20795" r="28925" b="7423"/>
          <a:stretch/>
        </p:blipFill>
        <p:spPr>
          <a:xfrm>
            <a:off x="4378036" y="1285730"/>
            <a:ext cx="4364182" cy="2621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21372" r="28924" b="5633"/>
          <a:stretch/>
        </p:blipFill>
        <p:spPr>
          <a:xfrm>
            <a:off x="0" y="3983601"/>
            <a:ext cx="5209309" cy="30187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56072" y="1690688"/>
            <a:ext cx="32419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Interactive 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Trend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Category &amp; Stock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Drill-down Analysis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09309" y="4212649"/>
            <a:ext cx="5521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Dashboard Outcome</a:t>
            </a:r>
          </a:p>
          <a:p>
            <a:r>
              <a:rPr lang="en-US" dirty="0" smtClean="0">
                <a:latin typeface="Bodoni MT" panose="02070603080606020203" pitchFamily="18" charset="0"/>
              </a:rPr>
              <a:t>Interactive dashboards  provide clear insights into pricing trends, product segments, and stock status</a:t>
            </a:r>
            <a:endParaRPr lang="en-IN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6196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Project Outcomes &amp; Key Insights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Key Outcomes</a:t>
            </a:r>
          </a:p>
          <a:p>
            <a:r>
              <a:rPr lang="en-US" sz="1800" dirty="0" smtClean="0">
                <a:latin typeface="Bell MT" panose="02020503060305020303" pitchFamily="18" charset="0"/>
              </a:rPr>
              <a:t>Analyzed </a:t>
            </a:r>
            <a:r>
              <a:rPr lang="en-US" sz="1800" dirty="0">
                <a:latin typeface="Bell MT" panose="02020503060305020303" pitchFamily="18" charset="0"/>
              </a:rPr>
              <a:t>e-commerce product pricing data from 2020–2026.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Identified pricing trends across different product categories and platforms.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Analyzed discounts, sale events, stock status, ratings, and customer reviews.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Built an interactive Power BI dashboard for business analysis.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Used Python, SQL, Excel, and Power BI for data analysis and visualization</a:t>
            </a:r>
            <a:r>
              <a:rPr lang="en-US" sz="1800" dirty="0" smtClean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Key Insights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Product prices vary significantly across categories and platforms.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Discounts and sale events influence current product prices.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Stock availability differs across product categories.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Customer ratings help identify better-performing product categories.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Interactive dashboards make pricing and product analysis easier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421755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Conclusion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ell MT" panose="02020503060305020303" pitchFamily="18" charset="0"/>
              </a:rPr>
              <a:t>Successfully completed an end-to-end analysis of e-commerce product pricing data.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Used Python, SQL, Excel, and Power BI for data cleaning, analysis, and visualization.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Identified important patterns in pricing, discounts, product categories, stock status, and ratings.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Developed an interactive Power BI dashboard to present insights clearly.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The project helped demonstrate how data analytics can support better pricing and business decisions.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2996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855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Business Recommendations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Bell MT" panose="02020503060305020303" pitchFamily="18" charset="0"/>
              </a:rPr>
              <a:t>Optimize </a:t>
            </a:r>
            <a:r>
              <a:rPr lang="en-US" sz="2000" b="1" dirty="0">
                <a:latin typeface="Bell MT" panose="02020503060305020303" pitchFamily="18" charset="0"/>
              </a:rPr>
              <a:t>Pricing: </a:t>
            </a:r>
            <a:r>
              <a:rPr lang="en-US" sz="2000" dirty="0">
                <a:latin typeface="Bell MT" panose="02020503060305020303" pitchFamily="18" charset="0"/>
              </a:rPr>
              <a:t>Adjust product prices based on market trends and sale events.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Monitor </a:t>
            </a:r>
            <a:r>
              <a:rPr lang="en-US" sz="2000" b="1" dirty="0">
                <a:latin typeface="Bell MT" panose="02020503060305020303" pitchFamily="18" charset="0"/>
              </a:rPr>
              <a:t>Discounts: </a:t>
            </a:r>
            <a:r>
              <a:rPr lang="en-US" sz="2000" dirty="0">
                <a:latin typeface="Bell MT" panose="02020503060305020303" pitchFamily="18" charset="0"/>
              </a:rPr>
              <a:t>Analyze discount levels to maintain competitive pricing while protecting margins.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Manage </a:t>
            </a:r>
            <a:r>
              <a:rPr lang="en-US" sz="2000" b="1" dirty="0">
                <a:latin typeface="Bell MT" panose="02020503060305020303" pitchFamily="18" charset="0"/>
              </a:rPr>
              <a:t>Inventory: </a:t>
            </a:r>
            <a:r>
              <a:rPr lang="en-US" sz="2000" dirty="0">
                <a:latin typeface="Bell MT" panose="02020503060305020303" pitchFamily="18" charset="0"/>
              </a:rPr>
              <a:t>Use stock-status insights to identify products requiring better inventory planning.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Focus </a:t>
            </a:r>
            <a:r>
              <a:rPr lang="en-US" sz="2000" b="1" dirty="0">
                <a:latin typeface="Bell MT" panose="02020503060305020303" pitchFamily="18" charset="0"/>
              </a:rPr>
              <a:t>on Product Categories: </a:t>
            </a:r>
            <a:r>
              <a:rPr lang="en-US" sz="2000" dirty="0">
                <a:latin typeface="Bell MT" panose="02020503060305020303" pitchFamily="18" charset="0"/>
              </a:rPr>
              <a:t>Identify high-performing categories and prioritize them for business growth.</a:t>
            </a:r>
          </a:p>
          <a:p>
            <a:r>
              <a:rPr lang="en-US" sz="2000" dirty="0" smtClean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Use Customer Feedback</a:t>
            </a:r>
            <a:r>
              <a:rPr lang="en-US" sz="2000" dirty="0">
                <a:latin typeface="Bell MT" panose="02020503060305020303" pitchFamily="18" charset="0"/>
              </a:rPr>
              <a:t>: Consider ratings and reviews when evaluating product performance.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Data-Driven </a:t>
            </a:r>
            <a:r>
              <a:rPr lang="en-US" sz="2000" b="1" dirty="0">
                <a:latin typeface="Bell MT" panose="02020503060305020303" pitchFamily="18" charset="0"/>
              </a:rPr>
              <a:t>Decisions: </a:t>
            </a:r>
            <a:r>
              <a:rPr lang="en-US" sz="2000" dirty="0">
                <a:latin typeface="Bell MT" panose="02020503060305020303" pitchFamily="18" charset="0"/>
              </a:rPr>
              <a:t>Use dashboard insights for continuous monitoring and strategic pricing decisions.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3331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Future Scope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Bell MT" panose="02020503060305020303" pitchFamily="18" charset="0"/>
              </a:rPr>
              <a:t>Price </a:t>
            </a:r>
            <a:r>
              <a:rPr lang="en-US" sz="2000" b="1" dirty="0">
                <a:latin typeface="Bell MT" panose="02020503060305020303" pitchFamily="18" charset="0"/>
              </a:rPr>
              <a:t>Prediction:</a:t>
            </a:r>
            <a:r>
              <a:rPr lang="en-US" sz="2000" dirty="0">
                <a:latin typeface="Bell MT" panose="02020503060305020303" pitchFamily="18" charset="0"/>
              </a:rPr>
              <a:t> Build Machine Learning models to predict future product prices.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Price </a:t>
            </a:r>
            <a:r>
              <a:rPr lang="en-US" sz="2000" b="1" dirty="0">
                <a:latin typeface="Bell MT" panose="02020503060305020303" pitchFamily="18" charset="0"/>
              </a:rPr>
              <a:t>Elasticity: </a:t>
            </a:r>
            <a:r>
              <a:rPr lang="en-US" sz="2000" dirty="0">
                <a:latin typeface="Bell MT" panose="02020503060305020303" pitchFamily="18" charset="0"/>
              </a:rPr>
              <a:t>Analyze how changes in price affect customer demand.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Competitor </a:t>
            </a:r>
            <a:r>
              <a:rPr lang="en-US" sz="2000" b="1" dirty="0">
                <a:latin typeface="Bell MT" panose="02020503060305020303" pitchFamily="18" charset="0"/>
              </a:rPr>
              <a:t>Analysis:</a:t>
            </a:r>
            <a:r>
              <a:rPr lang="en-US" sz="2000" dirty="0">
                <a:latin typeface="Bell MT" panose="02020503060305020303" pitchFamily="18" charset="0"/>
              </a:rPr>
              <a:t> Compare product prices with competitors.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Demand </a:t>
            </a:r>
            <a:r>
              <a:rPr lang="en-US" sz="2000" b="1" dirty="0">
                <a:latin typeface="Bell MT" panose="02020503060305020303" pitchFamily="18" charset="0"/>
              </a:rPr>
              <a:t>Forecasting: </a:t>
            </a:r>
            <a:r>
              <a:rPr lang="en-US" sz="2000" dirty="0">
                <a:latin typeface="Bell MT" panose="02020503060305020303" pitchFamily="18" charset="0"/>
              </a:rPr>
              <a:t>Predict future demand using historical pricing and sales patterns.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Real-Time </a:t>
            </a:r>
            <a:r>
              <a:rPr lang="en-US" sz="2000" b="1" dirty="0">
                <a:latin typeface="Bell MT" panose="02020503060305020303" pitchFamily="18" charset="0"/>
              </a:rPr>
              <a:t>Analytics</a:t>
            </a:r>
            <a:r>
              <a:rPr lang="en-US" sz="2000" dirty="0">
                <a:latin typeface="Bell MT" panose="02020503060305020303" pitchFamily="18" charset="0"/>
              </a:rPr>
              <a:t>: Integrate real-time data for continuous price monitoring.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Advanced </a:t>
            </a:r>
            <a:r>
              <a:rPr lang="en-US" sz="2000" b="1" dirty="0">
                <a:latin typeface="Bell MT" panose="02020503060305020303" pitchFamily="18" charset="0"/>
              </a:rPr>
              <a:t>Dashboard</a:t>
            </a:r>
            <a:r>
              <a:rPr lang="en-US" sz="2000" dirty="0">
                <a:latin typeface="Bell MT" panose="02020503060305020303" pitchFamily="18" charset="0"/>
              </a:rPr>
              <a:t>: Add predictive analytics and automated business alerts to Power BI.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235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Challenges and Learnings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84909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&amp; Learnings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64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  <a:p>
            <a:endParaRPr lang="en-US" dirty="0"/>
          </a:p>
          <a:p>
            <a:r>
              <a:rPr lang="en-US" sz="64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Handling and cleaning a large e-commerce dataset.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Managing missing values and inconsistent data.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Working with SQL data import and queries.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Creating meaningful Power BI visuals and dashboard layouts.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Combining insights from Python, SQL, Excel, and Power BI.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7200" b="1" dirty="0"/>
              <a:t>Key Learnings</a:t>
            </a:r>
          </a:p>
          <a:p>
            <a:endParaRPr lang="en-US" dirty="0"/>
          </a:p>
          <a:p>
            <a:r>
              <a:rPr lang="en-US" sz="7200" dirty="0" smtClean="0">
                <a:latin typeface="Bell MT" panose="02020503060305020303" pitchFamily="18" charset="0"/>
              </a:rPr>
              <a:t> Improved </a:t>
            </a:r>
            <a:r>
              <a:rPr lang="en-US" sz="7200" dirty="0">
                <a:latin typeface="Bell MT" panose="02020503060305020303" pitchFamily="18" charset="0"/>
              </a:rPr>
              <a:t>data cleaning and preprocessing skills.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Learned </a:t>
            </a:r>
            <a:r>
              <a:rPr lang="en-US" sz="7200" dirty="0">
                <a:latin typeface="Bell MT" panose="02020503060305020303" pitchFamily="18" charset="0"/>
              </a:rPr>
              <a:t>to analyze data using SQL and Excel Pivot Tables.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Gained practical experience in Power BI dashboard development.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Improved ability to identify and communicate business insights.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Developed an end-to-end understanding of the data analytics workflow.</a:t>
            </a:r>
            <a:endParaRPr lang="en-IN" sz="72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0386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969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Bell MT</vt:lpstr>
      <vt:lpstr>Berlin Sans FB</vt:lpstr>
      <vt:lpstr>Bodoni MT</vt:lpstr>
      <vt:lpstr>Calibri</vt:lpstr>
      <vt:lpstr>Calibri Light</vt:lpstr>
      <vt:lpstr>Wingdings</vt:lpstr>
      <vt:lpstr>Office Theme</vt:lpstr>
      <vt:lpstr>E-Commerce Dynamic Pricing and Elasticity Analytics </vt:lpstr>
      <vt:lpstr>Project Overview</vt:lpstr>
      <vt:lpstr>Problem Statement </vt:lpstr>
      <vt:lpstr>Dataset Description</vt:lpstr>
      <vt:lpstr>Data Cleaning</vt:lpstr>
      <vt:lpstr>Exploratory Data Analysis(EDA)</vt:lpstr>
      <vt:lpstr>SQL Queries</vt:lpstr>
      <vt:lpstr>Power BI Dashboard</vt:lpstr>
      <vt:lpstr>Project Outcomes &amp; Key Insights</vt:lpstr>
      <vt:lpstr>Conclusion</vt:lpstr>
      <vt:lpstr>Business Recommendations</vt:lpstr>
      <vt:lpstr>Future Scope</vt:lpstr>
      <vt:lpstr>Challenges and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Dynamic Pricing and Elasticity Analytics</dc:title>
  <dc:creator>DELL</dc:creator>
  <cp:lastModifiedBy>DELL</cp:lastModifiedBy>
  <cp:revision>43</cp:revision>
  <dcterms:created xsi:type="dcterms:W3CDTF">2026-08-07T06:14:15Z</dcterms:created>
  <dcterms:modified xsi:type="dcterms:W3CDTF">2026-08-09T12:29:02Z</dcterms:modified>
</cp:coreProperties>
</file>